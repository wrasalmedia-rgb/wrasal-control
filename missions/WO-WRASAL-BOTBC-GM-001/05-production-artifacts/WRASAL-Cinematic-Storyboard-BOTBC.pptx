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WRASAL CINEMATIC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0392B"/>
                </a:solidFill>
                <a:latin typeface="Calibri"/>
              </a:defRPr>
            </a:pPr>
            <a:r>
              <a:t>BROTHERS OF THE BLOOD CLOTH — THE INVOCATION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FFF8E1"/>
                </a:solidFill>
                <a:latin typeface="Calibri"/>
              </a:defRPr>
            </a:pPr>
            <a:r>
              <a:t>Trailer 001  •  105 Seconds  •  34 Shots  •  2.39:1  •  6 Golden Shots  •  Mission WO-WRASAL-BOTBC-GM-001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103120"/>
            <a:ext cx="3959352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8E1"/>
                </a:solidFill>
                <a:latin typeface="Calibri"/>
              </a:defRPr>
            </a:pPr>
            <a:r>
              <a:t>34 PLANNED FRAMES — TECHNICAL DIAGRAMS AS PLACEHOLDERS</a:t>
            </a:r>
            <a:br/>
            <a:r>
              <a:t>No performer likenesses fabricated • No archival photos invented • All placeholders labeled PROVISIONAL — Requires shoot and cultural review</a:t>
            </a:r>
            <a:br/>
            <a:br/>
            <a:r>
              <a:t>REALITY FIRST. TECHNOLOGY SECOND.  •  THE CAMERA IS A WITNESS, NOT A MAGICIAN.  •  THE GENRE CHANGES WHEN THE AUDIENCE'S UNDERSTANDING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657600"/>
            <a:ext cx="5788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5A5A6"/>
                </a:solidFill>
                <a:latin typeface="Calibri"/>
              </a:defRPr>
            </a:pPr>
            <a:r>
              <a:t>REUSABLE TEMPLATE: WRASAL Cinematic Storyboard — REFERENCE READY</a:t>
            </a:r>
            <a:br/>
            <a:r>
              <a:t>Sections marked [TEMPLATE] keep structure • [EXAMPLE: BOTBC] replace per film • Handoff pending ChatGPT Template Creator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5A5A6"/>
                </a:solidFill>
                <a:latin typeface="Calibri"/>
              </a:defRPr>
            </a:pPr>
            <a:r>
              <a:t>Generated 2026-10-23  •  Arena — WRASAL Executive Creative Production System  •  Validator: 07-verification/validate-shotlist.mjs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HOW TO USE THIS STORYBOARD —  [TEMPLATE] vs [EXAMPLE: BOTBC]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4864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KEEP — Reusable Template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914400"/>
            <a:ext cx="5486400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96012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REPLACE — BOTBC Example (per your film)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A1A2E"/>
                </a:solidFill>
                <a:latin typeface="Calibri"/>
              </a:defRPr>
            </a:pPr>
            <a:r>
              <a:t>• 16:9 master with 2.39 safe overlay (scope bars) — keep</a:t>
            </a:r>
            <a:br/>
            <a:r>
              <a:t>• Frame placeholder style (diagram vs photo) — keep spec</a:t>
            </a:r>
            <a:br/>
            <a:r>
              <a:t>• Per-shot data fields: ID, duration, timecode, act, lens, dialogue, sound — keep</a:t>
            </a:r>
            <a:br/>
            <a:r>
              <a:t>• Golden-shot highlight logic (6 markers) — keep; adapt count</a:t>
            </a:r>
            <a:br/>
            <a:r>
              <a:t>• Notes: Reusable fields vs project-specific example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A1A2E"/>
                </a:solidFill>
                <a:latin typeface="Calibri"/>
              </a:defRPr>
            </a:pPr>
            <a:r>
              <a:t>• BOTBC title + 34 shot content — replace with your film</a:t>
            </a:r>
            <a:br/>
            <a:r>
              <a:t>• Church/house/thread specifics — replace per location</a:t>
            </a:r>
            <a:br/>
            <a:r>
              <a:t>• Character IDs (MATTHEW, IONE...) — replace with your cast</a:t>
            </a:r>
            <a:br/>
            <a:r>
              <a:t>• Light warmth/neutral choices — replace per DP</a:t>
            </a:r>
            <a:br/>
            <a:r>
              <a:t>• Prop specifics (hero shirt/threads) — replace with your key object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11457432" cy="7315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1A1A2E"/>
                </a:solidFill>
                <a:latin typeface="Calibri"/>
              </a:defRPr>
            </a:pPr>
            <a:r>
              <a:t>REQUIREMENT: Where visual reference images are unavailable, provide clearly labeled storyboard placeholders or technical diagrams — do NOT fabricate performer likenesses, historical images, or approved identity references. Every placeholder in this deck is a gray technical diagram labeled 'PROVISIONAL PLACEHOLDER — Technical Diagram' pending shoot.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72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5A5A6"/>
                </a:solidFill>
                <a:latin typeface="Calibri"/>
              </a:defRPr>
            </a:pPr>
            <a:r>
              <a:t>Frame Diagram Standard:  2.39:1 safe inside 16:9  •  Scope bars (letterbox) simulated  •  Action safe 5%  •  Title safe 10%  •  All text outside safe on cover/legend; all storyboard frames letterboxed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457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5A5A6"/>
                </a:solidFill>
                <a:latin typeface="Calibri"/>
              </a:defRPr>
            </a:pPr>
            <a:r>
              <a:t>STATUS: REFERENCE READY — Handoff to ChatGPT Template Creator pending (Class D blocker — Creator not callable from Arena).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FRAME SPECIFICATION — 2.39:1 Scope • All Storyboard Frames Presented as Letterboxed Technical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5788152" cy="32552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847088"/>
            <a:ext cx="5788152" cy="193852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0" y="2011680"/>
            <a:ext cx="5056632" cy="1609344"/>
          </a:xfrm>
          <a:prstGeom prst="rect">
            <a:avLst/>
          </a:prstGeom>
          <a:solidFill>
            <a:srgbClr val="4A4A4A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846320"/>
            <a:ext cx="5788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5A5A6"/>
                </a:solidFill>
                <a:latin typeface="Calibri"/>
              </a:defRPr>
            </a:pPr>
            <a:r>
              <a:t>2.39:1 Active (Letterboxed in 16:9)  •  Yellow = Action Safe 5%  •  Center Cross = Optical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A1A2E"/>
                </a:solidFill>
                <a:latin typeface="Calibri"/>
              </a:defRPr>
            </a:pPr>
            <a:r>
              <a:t>Why no performer photos?</a:t>
            </a:r>
            <a:br/>
            <a:r>
              <a:t>This deck uses technical diagrams only — to avoid fabricating likenesses. On shoot: replace placeholders with stills; re-export.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6459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A1A2E"/>
                </a:solidFill>
                <a:latin typeface="Calibri"/>
              </a:defRPr>
            </a:pPr>
            <a:r>
              <a:t>Scope Bars: Black bars top/bottom simulate 2.39 crop inside 16:9 delivery. All storyboard frames use this letterboxing to prove composition.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STORYBOARD — ACT I: ELEGY (SH001–SH008)  •  20s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78167"/>
            <a:ext cx="2788920" cy="116691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 i="0">
                <a:solidFill>
                  <a:srgbClr val="FFFFFF"/>
                </a:solidFill>
                <a:latin typeface="Calibri"/>
              </a:defRPr>
            </a:pPr>
            <a:r>
              <a:t>◆ GOLDEN  SH001  (6s) — Black screen; Matthew delivers opening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BLACK SCREEN</a:t>
            </a:r>
            <a:br/>
            <a:r>
              <a:t>AUDIO: Matthew line</a:t>
            </a:r>
            <a:br/>
            <a:r>
              <a:t>center dry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00:00:00–00:00:06  •  I • 2026  •  GFX/Black  •  MATTHEW (V.O./on-mic): "Hi nice lady, can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SH002  (3s) — Church master shot, casket and pulpit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[PULPIT]  — [CASKET]</a:t>
            </a:r>
            <a:br/>
            <a:r>
              <a:t>  congregants →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00:00:06–00:00:09  •  I • 2026  •  24mm  •  No dialogue — room ambient, congregation s...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SH003  (2s) — Matthew observes congregation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Funeral</a:t>
            </a:r>
            <a:br/>
            <a:r>
              <a:t>Medium close Matthew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00:00:09–00:00:11  •  I • 2026  •  50mm  •  No dialogue — Matthew observes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SH004  (2s) — Yvonne recognizes joke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Funeral</a:t>
            </a:r>
            <a:br/>
            <a:r>
              <a:t>Close Yvonne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00:00:11–00:00:13  •  I • 2026  •  85mm  •  No dialogue — Yvonne recognition (non-verb...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SH005  (2s) — Ione laughs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Funeral</a:t>
            </a:r>
            <a:br/>
            <a:r>
              <a:t>Close Ione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00:00:13–00:00:15  •  I • 2026  •  85mm  •  No dialogue — Ione laughter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SH006  (2s) — Marcia laughs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Funeral</a:t>
            </a:r>
            <a:br/>
            <a:r>
              <a:t>Close Marcia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00:00:15–00:00:17  •  I • 2026  •  85mm  •  No dialogue — Marcia laughter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324175"/>
            <a:ext cx="2788920" cy="1166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 i="0">
                <a:solidFill>
                  <a:srgbClr val="FFFFFF"/>
                </a:solidFill>
                <a:latin typeface="Calibri"/>
              </a:defRPr>
            </a:pPr>
            <a:r>
              <a:t>◆ GOLDEN  SH007  (3s) — Congregation laughter conceals fourth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congregation mid-wide</a:t>
            </a:r>
            <a:br/>
            <a:r>
              <a:t>4th voice: ◯ off-axis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00:00:17–00:00:20  •  I→II • 2026  •  32mm  •  No dialogue — communal laughter (fourth la...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085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SH008  (3s) — Matthew: 'Daddy used to love that story'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Funeral</a:t>
            </a:r>
            <a:br/>
            <a:r>
              <a:t>Medium Matthew at pulpit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00:00:20–00:00:23  •  II • 2026  •  50mm  •  MATTHEW: "Daddy used to love that story."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53796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5A5A6"/>
                </a:solidFill>
                <a:latin typeface="Calibri"/>
              </a:defRPr>
            </a:pPr>
            <a:r>
              <a:t>Page 4 — PROVISIONAL — Replace technical diagrams with shoot stills before human approval — No likenesses fabricated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STORYBOARD — ACT II: INQUIRY (SH009–SH017)  •  31s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SH009  (3s) — Young Desmond dressing, historical perio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Ione &amp; Desmond Home</a:t>
            </a:r>
            <a:br/>
            <a:r>
              <a:t>Medium Desmond dressing,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00:00:23–00:00:26  •  II • 1980s  •  35mm  •  No dialogue — Desmond dressing (room ambie...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SH010  (3s) — Woman examines trousers pockets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Ione &amp; Desmond Home</a:t>
            </a:r>
            <a:br/>
            <a:r>
              <a:t>Insert hands in pockets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00:00:26–00:00:29  •  II • 1980s  •  50mm  •  No dialogue — fabric/pocket sounds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SH011  (3s) — Four brothers photographed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Family Portrait</a:t>
            </a:r>
            <a:br/>
            <a:r>
              <a:t>Group portrait four brothe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00:00:29–00:00:32  •  II • 1980s  •  35mm  •  (Camera shutter) — no dialogue; photograph...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SH012  (3s) — Brothers exchange joke about family size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Family Portrait</a:t>
            </a:r>
            <a:br/>
            <a:r>
              <a:t>Medium group joke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00:00:32–00:00:35  •  II • 2026/1980s  •  40mm  •  BROTHERS: Joke about family size — PROVISI...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SH013  (4s) — Ione's original blue-thread stitching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Domestic Repair</a:t>
            </a:r>
            <a:br/>
            <a:r>
              <a:t>ECU hem blue stitching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00:00:35–00:00:39  •  II • 1980s  •  100mm  •  No dialogue — Ione stitching (craft focus)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3324175"/>
            <a:ext cx="2788920" cy="1166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 i="0">
                <a:solidFill>
                  <a:srgbClr val="FFFFFF"/>
                </a:solidFill>
                <a:latin typeface="Calibri"/>
              </a:defRPr>
            </a:pPr>
            <a:r>
              <a:t>◆ GOLDEN  SH014  (3s) — White repair discovered over blue stit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ECU hem</a:t>
            </a:r>
            <a:br/>
            <a:r>
              <a:t>blue → white 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00:00:39–00:00:42  •  II • 1980s  •  60mm  •  No dialogue — fabric rustle; Ione discover...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SH015  (3s) — Ione questions the repair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Domestic Inquiry</a:t>
            </a:r>
            <a:br/>
            <a:r>
              <a:t>Medium Ione questioning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00:00:42–00:00:45  •  II • 1980s  •  50mm  •  IONE: "Weh yuh get dis shirt fix?" / "Wher...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085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SH016  (3s) — Desmond gives vague explanation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Domestic Inquiry</a:t>
            </a:r>
            <a:br/>
            <a:r>
              <a:t>Medium Desmond vague expla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00:00:45–00:00:48  •  II • 1980s  •  50mm  •  DESMOND: Vague — "A woman at work... she d...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469255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5670182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5715902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SH017  (3s) — Ione questions where shirt was repaired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92621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Domestic Inquiry</a:t>
            </a:r>
            <a:br/>
            <a:r>
              <a:t>Two-shot Ione/Desmond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882814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722090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00:00:48–00:00:51  •  II • 1980s  •  50mm  •  IONE: "Which woman? Where was this fixed?"...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3796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5A5A6"/>
                </a:solidFill>
                <a:latin typeface="Calibri"/>
              </a:defRPr>
            </a:pPr>
            <a:r>
              <a:t>Page 5 — PROVISIONAL — Replace technical diagrams with shoot stills before human approval — No likenesses fabricated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STORYBOARD — ACT III: UNCANNY (SH018–SH026)  •  26s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SH018  (3s) — Present-day Yvonne handles white shirt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ECU Yvonne hands + shirt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00:00:51–00:00:54  •  III • 2026  •  60mm  •  No dialogue — Yvonne handling shirt (fabri...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SH019  (3s) — Red thread revealed beneath older repair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ECU red thread revealed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00:00:54–00:00:57  •  III • 2026  •  60mm  •  No dialogue — reveal (breath, fabric)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978167"/>
            <a:ext cx="2788920" cy="1166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 i="0">
                <a:solidFill>
                  <a:srgbClr val="FFFFFF"/>
                </a:solidFill>
                <a:latin typeface="Calibri"/>
              </a:defRPr>
            </a:pPr>
            <a:r>
              <a:t>◆ GOLDEN  SH020  (3s) — Red thread retracts impossibly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ECU thread</a:t>
            </a:r>
            <a:br/>
            <a:r>
              <a:t>→ RETRACTS 1.5cm 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00:00:57–00:01:00  •  III • 2026  •  60mm  •  No dialogue — thread retraction (soft fabr...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SH021  (3s) — Yvonne reacts to unexplained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Close Yvonne reaction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00:01:00–00:01:03  •  III • 2026  •  85mm  •  YVONNE: Tiny catch-breath — non-verbal rea...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SH022  (2s) — Empty bathroom; familiar throat clearing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Wide empty bathroom, mirro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00:01:03–00:01:05  •  III • 2026  •  28mm  •  DESMOND'S THROAT CLEARING (familiar, off-s...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SH023  (3s) — Mark hears recorded voice resembling fat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Medium Mark + cassette pla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00:01:05–00:01:08  •  III • 2026  •  40mm  •  TAPE: Desmond voice — "Hi nice lady..." (a...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SH024  (3s) — John hears father's voice beyond bedroom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Medium John at bedroom doo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00:01:08–00:01:11  •  III • 2026  •  35mm  •  VOICE beyond door — "John..." or throat cl...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3324175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085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SH025  (3s) — Reader Man enters family house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Medium Reader Man entering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00:01:11–00:01:14  •  III • 2026  •  35mm  •  No dialogue — Reader Man entrance (footste...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469255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5670182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5715902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SH026  (3s) — Women examine shirt together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92621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Medium three women + shirt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882814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722090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00:01:14–00:01:17  •  III • 2026  •  35mm  •  No dialogue — women examining shirt (soft ...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3796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5A5A6"/>
                </a:solidFill>
                <a:latin typeface="Calibri"/>
              </a:defRPr>
            </a:pPr>
            <a:r>
              <a:t>Page 6 — PROVISIONAL — Replace technical diagrams with shoot stills before human approval — No likenesses fabricated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STORYBOARD — ACT IV + GFX: ATTRIBUTION CRISIS &amp; TITLE (SH027–SH034)  •  28s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SH027  (4s) — Reader Man questions red stitching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Medium Reader Man examinin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00:01:17–00:01:21  •  IV • 2026  •  40mm  •  READER MAN: "When you first see the red? W...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SH028  (3s) — Bedroom door; approaching footsteps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Medium bedroom door, corri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00:01:21–00:01:24  •  IV • 2026  •  35mm  •  FOOTSTEPS beyond bedroom door — no dialogue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978167"/>
            <a:ext cx="2788920" cy="116691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SH029  (3s) — Mark says father is dead; voice responds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Close Mark vs door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00:01:24–00:01:27  •  IV • 2026  •  40mm  •  MARK: "Mi father dead. ... You nuh dead?"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777240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978167"/>
            <a:ext cx="2788920" cy="1166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023887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 i="0">
                <a:solidFill>
                  <a:srgbClr val="FFFFFF"/>
                </a:solidFill>
                <a:latin typeface="Calibri"/>
              </a:defRPr>
            </a:pPr>
            <a:r>
              <a:t>◆ GOLDEN  SH030  (3s) — Reader Man questions attribution to 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23419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Reader ──?── Door</a:t>
            </a:r>
            <a:br/>
            <a:r>
              <a:t>women + shirt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90799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28887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00:01:27–00:01:30  •  IV • 2026  •  35mm  •  READER MAN: "You think a Desmond do this? 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24175"/>
            <a:ext cx="2788920" cy="1166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 i="0">
                <a:solidFill>
                  <a:srgbClr val="FFFFFF"/>
                </a:solidFill>
                <a:latin typeface="Calibri"/>
              </a:defRPr>
            </a:pPr>
            <a:r>
              <a:t>◆ GOLDEN  SH031  (4s) — Return to funeral; fourth laugh isolat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row — thinned laugh</a:t>
            </a:r>
            <a:br/>
            <a:r>
              <a:t>◯ isolated 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00:01:30–00:01:34  •  IV→I • 2026  •  40mm  •  Isolated fourth laugh (same file as SH007)...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3324175"/>
            <a:ext cx="2788920" cy="1166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SH032  (4s) — Four brothers, three mothers, one father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Four brothers,</a:t>
            </a:r>
            <a:br/>
            <a:r>
              <a:t>three mothers,</a:t>
            </a:r>
            <a:br/>
            <a:r>
              <a:t>one father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00:01:34–00:01:38  •  — • GFX  •  GFX/Black  •  No dialogue — typography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324175"/>
            <a:ext cx="2788920" cy="1166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SH033  (3s) — Film title; red-thread visual motif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GFX</a:t>
            </a:r>
            <a:br/>
            <a:r>
              <a:t>Title + red thread motif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00:01:38–00:01:41  •  — • GFX  •  GFX/Black  •  No dialogue — title + motif; score holds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123247"/>
            <a:ext cx="2788920" cy="1568767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3324175"/>
            <a:ext cx="2788920" cy="116691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08592" y="3369895"/>
            <a:ext cx="2642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 i="0">
                <a:solidFill>
                  <a:srgbClr val="FFFFFF"/>
                </a:solidFill>
                <a:latin typeface="Calibri"/>
              </a:defRPr>
            </a:pPr>
            <a:r>
              <a:t>SH034  (4s) — Black screen; final shirt-related voice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35802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ECF0F1"/>
                </a:solidFill>
                <a:latin typeface="Calibri"/>
              </a:defRPr>
            </a:pPr>
            <a:r>
              <a:t>House Present</a:t>
            </a:r>
            <a:br/>
            <a:r>
              <a:t>Black 2.39:1 + voice 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536807"/>
            <a:ext cx="2788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1">
                <a:solidFill>
                  <a:srgbClr val="95A5A6"/>
                </a:solidFill>
                <a:latin typeface="Calibri"/>
              </a:defRPr>
            </a:pPr>
            <a:r>
              <a:t>PROVISIONAL PLACEHOLDER — Technical Diagram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874895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 i="0">
                <a:solidFill>
                  <a:srgbClr val="1A1A2E"/>
                </a:solidFill>
                <a:latin typeface="Calibri"/>
              </a:defRPr>
            </a:pPr>
            <a:r>
              <a:t>00:01:41–00:01:45  •  IV • 2026  •  N/A  •  VOICE STINGER: Shirt-related — "Ione?" or 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53796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5A5A6"/>
                </a:solidFill>
                <a:latin typeface="Calibri"/>
              </a:defRPr>
            </a:pPr>
            <a:r>
              <a:t>Page 7 — PROVISIONAL — Replace technical diagrams with shoot stills before human approval — No likenesses fabricated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HANDOFF — FROM REFERENCE READY → TEMPLATE PACKAGED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280160"/>
            <a:ext cx="3959352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994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8E1"/>
                </a:solidFill>
                <a:latin typeface="Calibri"/>
              </a:defRPr>
            </a:pPr>
            <a:r>
              <a:t>This storyboard is REFERENCE READY — a verified, reusable structure with BOTBC example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8E1"/>
                </a:solidFill>
                <a:latin typeface="Calibri"/>
              </a:defRPr>
            </a:pPr>
            <a:r>
              <a:t>1. In ChatGPT (Template Creator supported environment), open Template Creator → 'Create Template' → Upload this PPTX.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8E1"/>
                </a:solidFill>
                <a:latin typeface="Calibri"/>
              </a:defRPr>
            </a:pPr>
            <a:r>
              <a:t>2. Set Template Name: 'WRASAL Cinematic Storyboard'  •  Description: '2.39:1 scope storyboard with 34-shot structure, 2.39 safe overlays, golden-shot markers, and reusable-vs-example legend.'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8E1"/>
                </a:solidFill>
                <a:latin typeface="Calibri"/>
              </a:defRPr>
            </a:pPr>
            <a:r>
              <a:t>3. Define editable fields: Project title, aspect, runtime, mission ID, shot rows (add/delete), golden-shot markers.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8E1"/>
                </a:solidFill>
                <a:latin typeface="Calibri"/>
              </a:defRPr>
            </a:pPr>
            <a:r>
              <a:t>4. Publish to your Template Gallery (private). Record Template ID + Gallery URL in /06-templates/handoff-package.md.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8E1"/>
                </a:solidFill>
                <a:latin typeface="Calibri"/>
              </a:defRPr>
            </a:pPr>
            <a:r>
              <a:t>5. In Arena: Update handoff-package.md STATUS from REFERENCE READY → TEMPLATE PACKAGED (with Template ID evidence).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8E1"/>
                </a:solidFill>
                <a:latin typeface="Calibri"/>
              </a:defRPr>
            </a:pPr>
            <a:r>
              <a:t>6. Only when Template Gallery confirms save: STATUS → TEMPLATE SAVED (evidence: gallery screenshot + published URL).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F39C12"/>
                </a:solidFill>
                <a:latin typeface="Calibri"/>
              </a:defRPr>
            </a:pPr>
            <a:r>
              <a:t>Arena cannot invoke ChatGPT Template Creator — this step is Class D blocker, not mission failure. Handoff package is complete; installation requires human action in ChatGPT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5A5A6"/>
                </a:solidFill>
                <a:latin typeface="Calibri"/>
              </a:defRPr>
            </a:pPr>
            <a:r>
              <a:t>WRASAL Media  •  2026-10-23  •  Validator: 07-verification/validate-shotlist.mjs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